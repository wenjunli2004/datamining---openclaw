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bs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6" y="713232"/>
            <a:ext cx="1261872" cy="1261872"/>
          </a:xfrm>
          <a:prstGeom prst="rect">
            <a:avLst/>
          </a:prstGeom>
        </p:spPr>
      </p:pic>
      <p:pic>
        <p:nvPicPr>
          <p:cNvPr id="5" name="Picture 4" descr="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621792"/>
            <a:ext cx="1170432" cy="1170432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11338560" y="1865376"/>
            <a:ext cx="201168" cy="201168"/>
          </a:xfrm>
          <a:prstGeom prst="star5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9217152" y="2048256"/>
            <a:ext cx="146304" cy="146304"/>
          </a:xfrm>
          <a:prstGeom prst="star5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0826496" y="2103120"/>
            <a:ext cx="118872" cy="118872"/>
          </a:xfrm>
          <a:prstGeom prst="star5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4008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OpenClaw Project · Data Mining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53312"/>
            <a:ext cx="81381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4292F"/>
                </a:solidFill>
                <a:latin typeface="LXGW WenKai"/>
              </a:rPr>
              <a:t>开源项目潜力发现系统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21408"/>
            <a:ext cx="8778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从 GitHub 早期信号中挖掘值得观察的开源项目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24912"/>
            <a:ext cx="708660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3273552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447288"/>
            <a:ext cx="402336" cy="402336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525012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XGW WenKa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996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历史样本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76472"/>
            <a:ext cx="996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7606A"/>
                </a:solidFill>
                <a:latin typeface="LXGW WenKai"/>
              </a:rPr>
              <a:t>500 仓库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356616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3273552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08376" y="3447288"/>
            <a:ext cx="402336" cy="402336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8376" y="3525012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XGW WenKai"/>
              </a:rPr>
              <a:t>30天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438144"/>
            <a:ext cx="996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早期信号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776472"/>
            <a:ext cx="996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7606A"/>
                </a:solidFill>
                <a:latin typeface="LXGW WenKai"/>
              </a:rPr>
              <a:t>创建后 30 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56616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10912" y="3273552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57216" y="3447288"/>
            <a:ext cx="402336" cy="402336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5012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XGW WenKai"/>
              </a:rPr>
              <a:t>LR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438144"/>
            <a:ext cx="996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模型排序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776472"/>
            <a:ext cx="996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7606A"/>
                </a:solidFill>
                <a:latin typeface="LXGW WenKai"/>
              </a:rPr>
              <a:t>AUC 0.883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56616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9752" y="3273552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6056" y="3447288"/>
            <a:ext cx="402336" cy="402336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6056" y="3525012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XGW WenKai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438144"/>
            <a:ext cx="996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事实洞察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776472"/>
            <a:ext cx="996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7606A"/>
                </a:solidFill>
                <a:latin typeface="LXGW WenKai"/>
              </a:rPr>
              <a:t>诊断 + 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356616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08592" y="3273552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54896" y="3447288"/>
            <a:ext cx="402336" cy="402336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4896" y="3525012"/>
            <a:ext cx="402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XGW WenKai"/>
              </a:rPr>
              <a:t>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438144"/>
            <a:ext cx="996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今日雷达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776472"/>
            <a:ext cx="996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7606A"/>
                </a:solidFill>
                <a:latin typeface="LXGW WenKai"/>
              </a:rPr>
              <a:t>近期候选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4892040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9834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A44E"/>
                </a:solidFill>
                <a:latin typeface="LXGW WenKai"/>
              </a:rPr>
              <a:t>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36752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7606A"/>
                </a:solidFill>
                <a:latin typeface="LXGW WenKai"/>
              </a:rPr>
              <a:t>历史样本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44952" y="4892040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44952" y="49834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969DA"/>
                </a:solidFill>
                <a:latin typeface="LXGW WenKai"/>
              </a:rPr>
              <a:t>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4952" y="536752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7606A"/>
                </a:solidFill>
                <a:latin typeface="LXGW WenKai"/>
              </a:rPr>
              <a:t>早期特征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76672" y="4892040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6672" y="49834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B8500"/>
                </a:solidFill>
                <a:latin typeface="LXGW WenKai"/>
              </a:rPr>
              <a:t>0.883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6672" y="536752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7606A"/>
                </a:solidFill>
                <a:latin typeface="LXGW WenKai"/>
              </a:rPr>
              <a:t>最佳 AUC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08392" y="4892040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08392" y="49834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A3FFC"/>
                </a:solidFill>
                <a:latin typeface="LXGW WenKai"/>
              </a:rPr>
              <a:t>1年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2" y="536752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7606A"/>
                </a:solidFill>
                <a:latin typeface="LXGW WenKai"/>
              </a:rPr>
              <a:t>标签窗口</a:t>
            </a:r>
          </a:p>
        </p:txBody>
      </p:sp>
      <p:sp>
        <p:nvSpPr>
          <p:cNvPr id="54" name="5-Point Star 53"/>
          <p:cNvSpPr/>
          <p:nvPr/>
        </p:nvSpPr>
        <p:spPr>
          <a:xfrm>
            <a:off x="9802368" y="4974336"/>
            <a:ext cx="164592" cy="164592"/>
          </a:xfrm>
          <a:prstGeom prst="star5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5-Point Star 54"/>
          <p:cNvSpPr/>
          <p:nvPr/>
        </p:nvSpPr>
        <p:spPr>
          <a:xfrm>
            <a:off x="10003536" y="4864608"/>
            <a:ext cx="109728" cy="109728"/>
          </a:xfrm>
          <a:prstGeom prst="star5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144768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李文俊 2023150001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6181344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57606A"/>
                </a:solidFill>
                <a:latin typeface="LXGW WenKai"/>
              </a:rPr>
              <a:t>OpenClaw Project · Data Mining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6181344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2026 · 06 ·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3474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4292F"/>
                </a:solidFill>
                <a:latin typeface="LXGW WenKa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04672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24292F"/>
                </a:solidFill>
                <a:latin typeface="LXGW WenKai"/>
              </a:rPr>
              <a:t>目标更早一步 —— 在仓库创建后的早期窗口，识别值得关注的潜力项目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931920" cy="144475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B8500"/>
                </a:solidFill>
                <a:latin typeface="LXGW WenKai"/>
              </a:rPr>
              <a:t>↘ GitHub Trending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61488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24292F"/>
                </a:solidFill>
                <a:latin typeface="LXGW WenKai"/>
              </a:rPr>
              <a:t>看见的是：已经获得关注的项目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7606A"/>
                </a:solidFill>
                <a:latin typeface="LXGW WenKai"/>
              </a:rPr>
              <a:t>问题是：可能错过早期机会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3957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57606A"/>
                </a:solidFill>
                <a:latin typeface="LXGW WenKai"/>
              </a:rPr>
              <a:t>启发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788920"/>
            <a:ext cx="2560320" cy="146304"/>
          </a:xfrm>
          <a:prstGeom prst="rightArrow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1965960"/>
            <a:ext cx="3931920" cy="144475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212848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DA44E"/>
                </a:solidFill>
                <a:latin typeface="LXGW WenKai"/>
              </a:rPr>
              <a:t>✧ OpenClaw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61488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24292F"/>
                </a:solidFill>
                <a:latin typeface="LXGW WenKai"/>
              </a:rPr>
              <a:t>观察的是：前 30 天的项目行为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7606A"/>
                </a:solidFill>
                <a:latin typeface="LXGW WenKai"/>
              </a:rPr>
              <a:t>输出的是：可追踪的候选清单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58768"/>
            <a:ext cx="7132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292F"/>
                </a:solidFill>
                <a:latin typeface="LXGW WenKai"/>
              </a:rPr>
              <a:t>研究支撑：相关研究表明这条路是可行的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361188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334256"/>
            <a:ext cx="3611880" cy="5486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537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4292F"/>
                </a:solidFill>
                <a:latin typeface="LXGW WenKai"/>
              </a:rPr>
              <a:t>Predicting the Popularity of
GitHub Repositories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38928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0969DA"/>
                </a:solidFill>
                <a:latin typeface="LXGW WenKai"/>
              </a:rPr>
              <a:t>PROMISE'16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4681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4292F"/>
                </a:solidFill>
                <a:latin typeface="LXGW WenKai"/>
              </a:rPr>
              <a:t>用星标时间序列 + 多元回归即可
预测仓库流行度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897880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969DA"/>
                </a:solidFill>
                <a:latin typeface="LXGW WenKai"/>
              </a:rPr>
              <a:t>→ 流行度是可建模的量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334256"/>
            <a:ext cx="361188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334256"/>
            <a:ext cx="3611880" cy="54864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5537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4292F"/>
                </a:solidFill>
                <a:latin typeface="LXGW WenKai"/>
              </a:rPr>
              <a:t>Understanding the Factors that
Impact the Popularity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138928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FB8500"/>
                </a:solidFill>
                <a:latin typeface="LXGW WenKai"/>
              </a:rPr>
              <a:t>ICSME'16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54681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4292F"/>
                </a:solidFill>
                <a:latin typeface="LXGW WenKai"/>
              </a:rPr>
              <a:t>2,279 仓库 4 类增长模式；
语言、领域显著影响星标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897880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B8500"/>
                </a:solidFill>
                <a:latin typeface="LXGW WenKai"/>
              </a:rPr>
              <a:t>→ 项目特征带预测信号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4334256"/>
            <a:ext cx="361188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2752" y="4334256"/>
            <a:ext cx="3611880" cy="5486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45537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4292F"/>
                </a:solidFill>
                <a:latin typeface="LXGW WenKai"/>
              </a:rPr>
              <a:t>What Makes a Popular
Academic AI Repository?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5138928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2DA44E"/>
                </a:solidFill>
                <a:latin typeface="LXGW WenKai"/>
              </a:rPr>
              <a:t>EMSE / ICSE'21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5468112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4292F"/>
                </a:solidFill>
                <a:latin typeface="LXGW WenKai"/>
              </a:rPr>
              <a:t>1,149 学术 AI 仓库；21 特征中 11 个
在热门 vs 冷门间显著差异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5897880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DA44E"/>
                </a:solidFill>
                <a:latin typeface="LXGW WenKai"/>
              </a:rPr>
              <a:t>→ 早期工程实践可识别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OpenClaw 多智能体：让流程变成角色协作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4292F"/>
                </a:solidFill>
                <a:latin typeface="LXGW WenKai"/>
              </a:rPr>
              <a:t>不是把脚本串起来，而是由编排器调度多个角色，每个角色留下可检查的证据文件。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444752"/>
            <a:ext cx="7269480" cy="3584448"/>
          </a:xfrm>
          <a:prstGeom prst="roundRect">
            <a:avLst>
              <a:gd name="adj" fmla="val 10000"/>
            </a:avLst>
          </a:prstGeom>
          <a:solidFill>
            <a:srgbClr val="FBFCFE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enclaw_five_agents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9344"/>
            <a:ext cx="6876288" cy="3438144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273552" cy="3584448"/>
          </a:xfrm>
          <a:prstGeom prst="roundRect">
            <a:avLst>
              <a:gd name="adj" fmla="val 10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606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XGW WenKai"/>
              </a:rPr>
              <a:t>OpenClaw
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8DFE6"/>
                </a:solidFill>
                <a:latin typeface="LXGW WenKai"/>
              </a:rPr>
              <a:t>负责调度，不直接写结论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880360"/>
            <a:ext cx="274320" cy="274320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48940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862072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XGW WenKai"/>
              </a:rPr>
              <a:t>检查状态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871216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9B4C0"/>
                </a:solidFill>
                <a:latin typeface="LXGW WenKai"/>
              </a:rPr>
              <a:t>missing / stale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319272"/>
            <a:ext cx="274320" cy="27432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7852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300984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XGW WenKai"/>
              </a:rPr>
              <a:t>选择技能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310128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9B4C0"/>
                </a:solidFill>
                <a:latin typeface="LXGW WenKai"/>
              </a:rPr>
              <a:t>skill routing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3758183"/>
            <a:ext cx="274320" cy="274320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26763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739895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XGW WenKai"/>
              </a:rPr>
              <a:t>运行角色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749039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9B4C0"/>
                </a:solidFill>
                <a:latin typeface="LXGW WenKai"/>
              </a:rPr>
              <a:t>subprocess events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4197096"/>
            <a:ext cx="274320" cy="274320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65676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178808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XGW WenKai"/>
              </a:rPr>
              <a:t>刷新控制台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18795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9B4C0"/>
                </a:solidFill>
                <a:latin typeface="LXGW WenKai"/>
              </a:rPr>
              <a:t>dashboard visible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5157216"/>
            <a:ext cx="1133856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5285232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DA44E"/>
                </a:solidFill>
                <a:latin typeface="LXGW WenKai"/>
              </a:rPr>
              <a:t>采集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5532120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57606A"/>
                </a:solidFill>
                <a:latin typeface="LXGW WenKai"/>
              </a:rPr>
              <a:t>原始数据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513832" y="5376672"/>
            <a:ext cx="256032" cy="128016"/>
          </a:xfrm>
          <a:prstGeom prst="right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15583" y="5157216"/>
            <a:ext cx="1133856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5583" y="5285232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969DA"/>
                </a:solidFill>
                <a:latin typeface="LXGW WenKai"/>
              </a:rPr>
              <a:t>特征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3" y="5532120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57606A"/>
                </a:solidFill>
                <a:latin typeface="LXGW WenKai"/>
              </a:rPr>
              <a:t>特征表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03719" y="5376672"/>
            <a:ext cx="256032" cy="128016"/>
          </a:xfrm>
          <a:prstGeom prst="right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05472" y="5157216"/>
            <a:ext cx="1133856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5472" y="5285232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B8500"/>
                </a:solidFill>
                <a:latin typeface="LXGW WenKai"/>
              </a:rPr>
              <a:t>训练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5532120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57606A"/>
                </a:solidFill>
                <a:latin typeface="LXGW WenKai"/>
              </a:rPr>
              <a:t>模型结果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293608" y="5376672"/>
            <a:ext cx="256032" cy="128016"/>
          </a:xfrm>
          <a:prstGeom prst="right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95360" y="5157216"/>
            <a:ext cx="1133856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5285232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A3FFC"/>
                </a:solidFill>
                <a:latin typeface="LXGW WenKai"/>
              </a:rPr>
              <a:t>诊断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532120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57606A"/>
                </a:solidFill>
                <a:latin typeface="LXGW WenKai"/>
              </a:rPr>
              <a:t>事实摘要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683496" y="5376672"/>
            <a:ext cx="256032" cy="128016"/>
          </a:xfrm>
          <a:prstGeom prst="right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85248" y="5157216"/>
            <a:ext cx="1133856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8" y="5285232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DA44E"/>
                </a:solidFill>
                <a:latin typeface="LXGW WenKai"/>
              </a:rPr>
              <a:t>洞察/报告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5532120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57606A"/>
                </a:solidFill>
                <a:latin typeface="LXGW WenKai"/>
              </a:rPr>
              <a:t>分析报告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285232"/>
            <a:ext cx="3273552" cy="658368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468112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80" b="1" i="0">
                <a:solidFill>
                  <a:srgbClr val="24292F"/>
                </a:solidFill>
                <a:latin typeface="LXGW WenKai"/>
              </a:rPr>
              <a:t>核心价值：可复现流程 + 可追踪产物 + 受约束推理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6108192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7606A"/>
                </a:solidFill>
                <a:latin typeface="LXGW WenKai"/>
              </a:rPr>
              <a:t>各角色处理不同任务，最终把原始数据 → 特征表 → 模型结果 → 事实摘要 → 洞察报告串成完整证据链。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OpenClaw Multi-Agent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Agent 如何封装：技能是可复现任务单元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每个 Agent 都不是一句 prompt，而是一套明确的输入、脚本、输出和事件记录。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10528"/>
            <a:ext cx="3950208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Agent Packaging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53568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2029967"/>
            <a:ext cx="384048" cy="384048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933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采集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304288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repo-collector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066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GitHub 接口 → 原始记录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992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产出：仓库数据文件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120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1208" y="1755648"/>
            <a:ext cx="3535680" cy="6400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68952" y="2029967"/>
            <a:ext cx="384048" cy="38404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895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2728" y="19933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2728" y="2304288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feature-extractor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895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8952" y="27066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原始记录 → 19 个特征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952" y="29992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产出：特征表 / 特征顺序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548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5488" y="1755648"/>
            <a:ext cx="3535680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3232" y="2029967"/>
            <a:ext cx="384048" cy="384048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323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7008" y="19933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训练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7008" y="2304288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model-trainer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323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3232" y="27066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特征表 → 模型指标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3232" y="29992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产出：模型结果文件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3584448"/>
            <a:ext cx="3535680" cy="6400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4672" y="3858768"/>
            <a:ext cx="384048" cy="384048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8496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38221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事实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133087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diagnostic-builder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5354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模型指标 → 结构化事实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48280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产出：事实摘要文件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120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31208" y="3584448"/>
            <a:ext cx="353568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68952" y="3858768"/>
            <a:ext cx="384048" cy="384048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8952" y="38496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2728" y="38221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洞察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2728" y="4133087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insight-analysis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6895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68952" y="45354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事实摘要 → 受约束解释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8952" y="48280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产出：洞察分析页面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548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95488" y="3584448"/>
            <a:ext cx="3535680" cy="6400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33232" y="3858768"/>
            <a:ext cx="384048" cy="38404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3232" y="38496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7008" y="3822191"/>
            <a:ext cx="26670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报告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7008" y="4133087"/>
            <a:ext cx="26670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report-generator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323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3232" y="4535424"/>
            <a:ext cx="307848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中间产物 → 可读报告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3232" y="4828032"/>
            <a:ext cx="307848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产出：最终 HTML 报告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413248"/>
            <a:ext cx="11064240" cy="676656"/>
          </a:xfrm>
          <a:prstGeom prst="roundRect">
            <a:avLst>
              <a:gd name="adj" fmla="val 18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413248"/>
            <a:ext cx="10552176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OpenClaw 的价值：把“能跑一次的脚本”升级成“可检查、可追踪、可复现的多角色流程”。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数据采集：只看前 30 天，标签放在未来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每个仓库拆成两部分：创建后 30 天内能看到的信息，以及一年后的热度标签。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10528"/>
            <a:ext cx="3950208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4160520" cy="363931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70332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500 </a:t>
            </a:r>
            <a:r>
              <a:rPr sz="20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个仓库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68880"/>
            <a:ext cx="3703320" cy="23774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创建日期：2025-03-01 .. 2025-04-30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71215"/>
            <a:ext cx="11430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2948939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2948939"/>
            <a:ext cx="1768415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871215"/>
            <a:ext cx="4572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55263"/>
            <a:ext cx="11430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JavaScript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3332987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84248" y="3332987"/>
            <a:ext cx="1768415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255263"/>
            <a:ext cx="4572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639311"/>
            <a:ext cx="11430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4248" y="3717035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84248" y="3717035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639311"/>
            <a:ext cx="4572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023359"/>
            <a:ext cx="11430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Rust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4248" y="4101083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84248" y="4101083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4023359"/>
            <a:ext cx="4572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407407"/>
            <a:ext cx="11430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TypeScript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4485131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84248" y="4485131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4407407"/>
            <a:ext cx="4572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809744"/>
            <a:ext cx="370332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其他 / 未知：3 · 五种语言基本均衡</a:t>
            </a:r>
          </a:p>
        </p:txBody>
      </p:sp>
      <p:sp>
        <p:nvSpPr>
          <p:cNvPr id="33" name="Oval 32"/>
          <p:cNvSpPr/>
          <p:nvPr/>
        </p:nvSpPr>
        <p:spPr>
          <a:xfrm>
            <a:off x="5001768" y="1975104"/>
            <a:ext cx="146304" cy="146304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2157984"/>
            <a:ext cx="1188720" cy="21945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创建日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034540"/>
            <a:ext cx="1874519" cy="4572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1773936"/>
            <a:ext cx="1874519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30 天观察窗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0" y="1975104"/>
            <a:ext cx="146304" cy="146304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2157984"/>
            <a:ext cx="1188720" cy="21945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第 30 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92640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1773936"/>
            <a:ext cx="1737360" cy="20116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约 1 年</a:t>
            </a:r>
          </a:p>
        </p:txBody>
      </p:sp>
      <p:sp>
        <p:nvSpPr>
          <p:cNvPr id="43" name="Oval 42"/>
          <p:cNvSpPr/>
          <p:nvPr/>
        </p:nvSpPr>
        <p:spPr>
          <a:xfrm>
            <a:off x="10744200" y="1975104"/>
            <a:ext cx="146304" cy="146304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157984"/>
            <a:ext cx="1097280" cy="21945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一年后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2670048"/>
            <a:ext cx="3186684" cy="2724912"/>
          </a:xfrm>
          <a:prstGeom prst="roundRect">
            <a:avLst>
              <a:gd name="adj" fmla="val 7000"/>
            </a:avLst>
          </a:prstGeom>
          <a:solidFill>
            <a:srgbClr val="F1F7FF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83480" y="2670048"/>
            <a:ext cx="3186684" cy="6400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9512" y="2852928"/>
            <a:ext cx="2729484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30 天快照</a:t>
            </a:r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模型输入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3328415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当时的说明文档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3749039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提交 / 问题 / 合并请求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4169663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前 30 天贡献者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9512" y="4590288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语言 / 所属账号类型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44484" y="2670048"/>
            <a:ext cx="3186684" cy="2724912"/>
          </a:xfrm>
          <a:prstGeom prst="roundRect">
            <a:avLst>
              <a:gd name="adj" fmla="val 7000"/>
            </a:avLst>
          </a:prstGeom>
          <a:solidFill>
            <a:srgbClr val="FFF7EC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44484" y="2670048"/>
            <a:ext cx="3186684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00516" y="2852928"/>
            <a:ext cx="2729484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未来标签</a:t>
            </a:r>
            <a:r>
              <a:rPr sz="12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训练答案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0516" y="3328415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一年后星标数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0516" y="3749039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是否进入前 20%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00516" y="4261104"/>
            <a:ext cx="26746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0516" y="4261104"/>
            <a:ext cx="267462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本批次前 20% 阈值 = 49 星标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0516" y="4828031"/>
            <a:ext cx="2729484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只做答案，不进入模型输入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541264"/>
            <a:ext cx="11064240" cy="566928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5541264"/>
            <a:ext cx="10552176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模型只学早期信号 → 一年后的热度；两边严格分开，避免把未来信息泄漏进输入。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数据样例：30 天快照是输入，未来标签是答案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用一条仓库记录说明数据切分：模型只能看左边，右边只用来判断是否成功。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10528"/>
            <a:ext cx="3950208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Data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5138928" cy="4005072"/>
          </a:xfrm>
          <a:prstGeom prst="roundRect">
            <a:avLst>
              <a:gd name="adj" fmla="val 7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5138928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38528"/>
            <a:ext cx="4590288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30 天快照</a:t>
            </a:r>
            <a:r>
              <a:rPr sz="125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模型输入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95728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仓库名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95728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owner/repo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830068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主要语言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830068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264408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前 30 天提交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3264408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42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698748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问题 / 合并请求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698748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8 /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133087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前 30 天贡献者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133087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6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567428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说明文档长度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567428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5260 字符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" y="5248656"/>
            <a:ext cx="4517136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016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248656"/>
            <a:ext cx="4517136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这些字段都来自创建后 30 天内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34456" y="3127248"/>
            <a:ext cx="402336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3511296"/>
            <a:ext cx="969264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755648"/>
            <a:ext cx="5138928" cy="4005072"/>
          </a:xfrm>
          <a:prstGeom prst="roundRect">
            <a:avLst>
              <a:gd name="adj" fmla="val 7000"/>
            </a:avLst>
          </a:prstGeom>
          <a:solidFill>
            <a:srgbClr val="FFF7EC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1755648"/>
            <a:ext cx="5138928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3136" y="1938528"/>
            <a:ext cx="4590288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未来标签</a:t>
            </a:r>
            <a:r>
              <a:rPr sz="125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训练答案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2432304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创建日期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432304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2025-04-15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2884932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一年后星标数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884932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310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337560"/>
            <a:ext cx="2103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一年后 fork 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337560"/>
            <a:ext cx="2487168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03136" y="3995928"/>
            <a:ext cx="4517136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03136" y="4151376"/>
            <a:ext cx="4517136" cy="530352"/>
          </a:xfrm>
          <a:prstGeom prst="roundRect">
            <a:avLst>
              <a:gd name="adj" fmla="val 16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4151376"/>
            <a:ext cx="4517136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310 ≥ 49  →  标签 = 进入前 20%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5212080"/>
            <a:ext cx="4517136" cy="40233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星标数只决定训练答案，不作为模型输入。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特征工程：把早期行为压缩成 19 个特征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模型不直接吃原始 JSON，而是把 30 天内的行为整理成五类可比较信号。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10528"/>
            <a:ext cx="3950208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31720"/>
            <a:ext cx="2057400" cy="2057400"/>
          </a:xfrm>
          <a:prstGeom prst="ellipse">
            <a:avLst/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205740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1"/>
            <a:ext cx="2057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早期特征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480559"/>
            <a:ext cx="2331720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6 + 1 + 4 + 4 + 4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9744"/>
            <a:ext cx="2423160" cy="5486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把不同仓库变成同一张表，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模型才能比较和排序。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83080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20240"/>
            <a:ext cx="384048" cy="38404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91109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874519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语言信号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74519"/>
            <a:ext cx="5367527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Python、JavaScript、Go、Rust、TypeScript、其他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551176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2688336"/>
            <a:ext cx="384048" cy="384048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26791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2642616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归属信号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42616"/>
            <a:ext cx="5367527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仓库属于组织账号，还是个人账号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319272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21024" y="3456432"/>
            <a:ext cx="384048" cy="384048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344728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410712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活跃信号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410712"/>
            <a:ext cx="5367527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提交、问题、合并请求、贡献者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087368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1024" y="4224528"/>
            <a:ext cx="384048" cy="384048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024" y="4215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178807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文档信号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178807"/>
            <a:ext cx="5367527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是否有说明文档、长度、图片、演示链接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55464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1024" y="4992624"/>
            <a:ext cx="384048" cy="384048"/>
          </a:xfrm>
          <a:prstGeom prst="ellipse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4983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946903"/>
            <a:ext cx="182880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派生信号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46903"/>
            <a:ext cx="5367527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总活跃度、平均提交、请求/问题、有无请求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69280"/>
            <a:ext cx="11064240" cy="512064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669280"/>
            <a:ext cx="10552176" cy="5120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关键点：所有模型输入都来自项目创建后的早期窗口；一年后的星标数只用来生成训练答案。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模型训练：三类模型对比，逻辑回归整体最好，随机森林适合排序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4292F"/>
                </a:solidFill>
                <a:latin typeface="LXGW WenKai"/>
              </a:rPr>
              <a:t>训练阶段不只是跑分，还要保存模型文件，让 Today Radar 可以复用。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5681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810512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输入特征矩阵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217627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500 个仓库 × 19 个特征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88920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1693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770632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训练三类模型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313639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逻辑回归 · 随机森林 · XGBoost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49039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77055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730751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评估排序能力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409651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5 折交叉验证 · AUC · 前 10 命中率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09160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37176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4690872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保存复用产物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505663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模型文件 · 特征顺序 · 动态阈值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847088"/>
            <a:ext cx="4526280" cy="3584448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103120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4292F"/>
                </a:solidFill>
                <a:latin typeface="LXGW WenKai"/>
              </a:rPr>
              <a:t>三个模型各自扮演什么角色？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2697480"/>
            <a:ext cx="385876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31152" y="2816352"/>
            <a:ext cx="274320" cy="274320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2871216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LR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788920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24292F"/>
                </a:solidFill>
                <a:latin typeface="LXGW WenKai"/>
              </a:rPr>
              <a:t>逻辑回归：线性、稳定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7889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1" i="0">
                <a:solidFill>
                  <a:srgbClr val="2DA44E"/>
                </a:solidFill>
                <a:latin typeface="LXGW WenKai"/>
              </a:rPr>
              <a:t>AUC 0.883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3410712"/>
            <a:ext cx="385876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31152" y="3529584"/>
            <a:ext cx="274320" cy="27432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3584448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RF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502152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24292F"/>
                </a:solidFill>
                <a:latin typeface="LXGW WenKai"/>
              </a:rPr>
              <a:t>随机森林：非线性、排序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50215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1" i="0">
                <a:solidFill>
                  <a:srgbClr val="0969DA"/>
                </a:solidFill>
                <a:latin typeface="LXGW WenKai"/>
              </a:rPr>
              <a:t>PR-AUC 0.662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4123944"/>
            <a:ext cx="385876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31152" y="4242816"/>
            <a:ext cx="274320" cy="274320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4297680"/>
            <a:ext cx="27432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XGW WenKai"/>
              </a:rPr>
              <a:t>XGB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215384"/>
            <a:ext cx="1965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24292F"/>
                </a:solidFill>
                <a:latin typeface="LXGW WenKai"/>
              </a:rPr>
              <a:t>梯度提升：对照模型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2153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1" i="0">
                <a:solidFill>
                  <a:srgbClr val="FB8500"/>
                </a:solidFill>
                <a:latin typeface="LXGW WenKai"/>
              </a:rPr>
              <a:t>P@10 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04748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7606A"/>
                </a:solidFill>
                <a:latin typeface="LXGW WenKai"/>
              </a:rPr>
              <a:t>模型比较不是选一个“唯一正确”，而是看排序、正例识别和应用需求。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指标解释：为什么不能只看一个 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4292F"/>
                </a:solidFill>
                <a:latin typeface="LXGW WenKai"/>
              </a:rPr>
              <a:t>这个任务本质是候选发现，所以要同时看整体排序、正例识别、前排命中和时间泛化。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102352" cy="117043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75687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DA44E"/>
                </a:solidFill>
                <a:latin typeface="LXGW WenKai"/>
              </a:rP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552" y="2057399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整体排序能力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2377439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606A"/>
                </a:solidFill>
                <a:latin typeface="LXGW WenKai"/>
              </a:rPr>
              <a:t>随机取一个热门和冷门仓库，模型把热门排前面的概率。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203703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2DA44E"/>
                </a:solidFill>
                <a:latin typeface="LXGW WenKai"/>
              </a:rPr>
              <a:t>0.883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74519"/>
            <a:ext cx="5102352" cy="117043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75687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969DA"/>
                </a:solidFill>
                <a:latin typeface="LXGW WenKai"/>
              </a:rPr>
              <a:t>PR-AUC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2057399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少数正例识别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2377439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606A"/>
                </a:solidFill>
                <a:latin typeface="LXGW WenKai"/>
              </a:rPr>
              <a:t>正例只有约 20% 时，比准确率更能反映找潜力项目的能力。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4704" y="2203703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0969DA"/>
                </a:solidFill>
                <a:latin typeface="LXGW WenKai"/>
              </a:rPr>
              <a:t>0.662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47287"/>
            <a:ext cx="5102352" cy="117043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648455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B8500"/>
                </a:solidFill>
                <a:latin typeface="LXGW WenKai"/>
              </a:rPr>
              <a:t>P@10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3630167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前排候选质量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3950207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606A"/>
                </a:solidFill>
                <a:latin typeface="LXGW WenKai"/>
              </a:rPr>
              <a:t>只看模型排在最前面的 10 个项目，贴近日常使用。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776471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FB8500"/>
                </a:solidFill>
                <a:latin typeface="LXGW WenKai"/>
              </a:rPr>
              <a:t>0.80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447287"/>
            <a:ext cx="5102352" cy="117043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648455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A3FFC"/>
                </a:solidFill>
                <a:latin typeface="LXGW WenKai"/>
              </a:rPr>
              <a:t>时间切分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630167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92F"/>
                </a:solidFill>
                <a:latin typeface="LXGW WenKai"/>
              </a:rPr>
              <a:t>时间泛化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950207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606A"/>
                </a:solidFill>
                <a:latin typeface="LXGW WenKai"/>
              </a:rPr>
              <a:t>按创建时间切分训练/测试，检验随机验证是否过于乐观。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4704" y="3776471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8A3FFC"/>
                </a:solidFill>
                <a:latin typeface="LXGW WenKai"/>
              </a:rPr>
              <a:t>+0.0004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285232"/>
            <a:ext cx="10241280" cy="603504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016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5449824"/>
            <a:ext cx="9646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24292F"/>
                </a:solidFill>
                <a:latin typeface="LXGW WenKai"/>
              </a:rPr>
              <a:t>展示时的解释顺序：AUC 证明可排序，PR-AUC/P@10 证明候选清单有意义，时间切分证明时间窗口稳定。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实验结果：早期信号确实能排序潜力仓库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149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4292F"/>
                </a:solidFill>
                <a:latin typeface="LXGW WenKai"/>
              </a:rPr>
              <a:t>模型最有价值的不是“预测每一个项目”，而是把候选项目排到更值得看的顺序。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LXGW WenKai"/>
              </a:rPr>
              <a:t>0.883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DA44E"/>
                </a:solidFill>
                <a:latin typeface="LXGW WenKai"/>
              </a:rPr>
              <a:t>最佳 AUC · 逻辑回归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99339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LXGW WenKai"/>
              </a:rPr>
              <a:t>0.662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596896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DA44E"/>
                </a:solidFill>
                <a:latin typeface="LXGW WenKai"/>
              </a:rPr>
              <a:t>最佳 PR-AUC · 随机森林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29968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B8500"/>
                </a:solidFill>
                <a:latin typeface="LXGW WenKai"/>
              </a:rPr>
              <a:t>+0.0004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15184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7606A"/>
                </a:solidFill>
                <a:latin typeface="LXGW WenKai"/>
              </a:rPr>
              <a:t>时间切分 AUC 差距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49039"/>
            <a:ext cx="1088136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77639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7606A"/>
                </a:solidFill>
                <a:latin typeface="LXGW WenKai"/>
              </a:rPr>
              <a:t>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95020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LXGW WenKai"/>
              </a:rPr>
              <a:t>语言+归属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80" y="4407408"/>
            <a:ext cx="1179184" cy="201168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477316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292F"/>
                </a:solidFill>
                <a:latin typeface="LXGW WenKai"/>
              </a:rPr>
              <a:t>0.8562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95020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LXGW WenKai"/>
              </a:rPr>
              <a:t>+ 活跃度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4407408"/>
            <a:ext cx="1330190" cy="20116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477316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292F"/>
                </a:solidFill>
                <a:latin typeface="LXGW WenKai"/>
              </a:rPr>
              <a:t>0.8698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95020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LXGW WenKai"/>
              </a:rPr>
              <a:t>+ 说明文档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92824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92824" y="4407408"/>
            <a:ext cx="1537824" cy="20116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477316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292F"/>
                </a:solidFill>
                <a:latin typeface="LXGW WenKai"/>
              </a:rPr>
              <a:t>0.8885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395020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4292F"/>
                </a:solidFill>
                <a:latin typeface="LXGW WenKai"/>
              </a:rPr>
              <a:t>+ 派生比率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9096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69096" y="4407408"/>
            <a:ext cx="1456769" cy="201168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477316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292F"/>
                </a:solidFill>
                <a:latin typeface="LXGW WenKai"/>
              </a:rPr>
              <a:t>0.8812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715000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4292F"/>
                </a:solidFill>
                <a:latin typeface="LXGW WenKai"/>
              </a:rPr>
              <a:t>结论：早期说明文档能继续提升排序；派生比率反而带来少量噪声。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事实诊断 + 洞察分析：OpenClaw 的不可替代性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单次问大模型也能写分析；OpenClaw 解决的是多步骤任务如何稳定运行、留下证据、可复现。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10528"/>
            <a:ext cx="3950208" cy="2194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440680" cy="2706624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5440680" cy="64008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84248"/>
            <a:ext cx="489204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7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直接问大模型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5237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146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4963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把结果文件丢给模型总结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9809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718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9535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可能引用不存在的数字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4381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4290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4107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每次回答不一定一致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38953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8679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难以接入完整流程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783080"/>
            <a:ext cx="5440680" cy="2706624"/>
          </a:xfrm>
          <a:prstGeom prst="roundRect">
            <a:avLst>
              <a:gd name="adj" fmla="val 7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1783080"/>
            <a:ext cx="544068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1984248"/>
            <a:ext cx="489204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750" b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OpenClaw 工作流</a:t>
            </a:r>
          </a:p>
        </p:txBody>
      </p:sp>
      <p:sp>
        <p:nvSpPr>
          <p:cNvPr id="27" name="Oval 26"/>
          <p:cNvSpPr/>
          <p:nvPr/>
        </p:nvSpPr>
        <p:spPr>
          <a:xfrm>
            <a:off x="6519672" y="25237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5146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24963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技能固定输入 / 输出契约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29809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9718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29535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先算事实摘要，再做解释</a:t>
            </a:r>
          </a:p>
        </p:txBody>
      </p:sp>
      <p:sp>
        <p:nvSpPr>
          <p:cNvPr id="33" name="Oval 32"/>
          <p:cNvSpPr/>
          <p:nvPr/>
        </p:nvSpPr>
        <p:spPr>
          <a:xfrm>
            <a:off x="6519672" y="34381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4290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34107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引用数字必须能在事实里校验</a:t>
            </a:r>
          </a:p>
        </p:txBody>
      </p:sp>
      <p:sp>
        <p:nvSpPr>
          <p:cNvPr id="36" name="Oval 35"/>
          <p:cNvSpPr/>
          <p:nvPr/>
        </p:nvSpPr>
        <p:spPr>
          <a:xfrm>
            <a:off x="6519672" y="38953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886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3867912"/>
            <a:ext cx="45262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控制台展示状态与产物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736592"/>
            <a:ext cx="11064240" cy="768096"/>
          </a:xfrm>
          <a:prstGeom prst="roundRect">
            <a:avLst>
              <a:gd name="adj" fmla="val 12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736592"/>
            <a:ext cx="2194560" cy="7680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先算事实，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再让模型解释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8960" y="4910328"/>
            <a:ext cx="1417320" cy="420623"/>
          </a:xfrm>
          <a:prstGeom prst="roundRect">
            <a:avLst>
              <a:gd name="adj" fmla="val 30000"/>
            </a:avLst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4910328"/>
            <a:ext cx="1417320" cy="420623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232A"/>
                </a:solidFill>
                <a:latin typeface="LXGW WenKai"/>
                <a:ea typeface="LXGW WenKai"/>
                <a:cs typeface="LXGW WenKai"/>
              </a:rPr>
              <a:t>结果文件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4910328"/>
            <a:ext cx="2834640" cy="420623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910328"/>
            <a:ext cx="2834640" cy="420623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事实诊断 → 结构化事实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910328"/>
            <a:ext cx="2926080" cy="420623"/>
          </a:xfrm>
          <a:prstGeom prst="roundRect">
            <a:avLst>
              <a:gd name="adj" fmla="val 3000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4910328"/>
            <a:ext cx="2926080" cy="420623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洞察分析 → 受约束解释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626864" y="5029200"/>
            <a:ext cx="27432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882127" y="5029200"/>
            <a:ext cx="27432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687568"/>
            <a:ext cx="11064240" cy="566928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687568"/>
            <a:ext cx="10552176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OpenClaw 把模型训练和大模型分析，组织成可审计、可复现的多智能体流程。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Today Radar：把模型用于今天的候选发现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4292F"/>
                </a:solidFill>
                <a:latin typeface="LXGW WenKai"/>
              </a:rPr>
              <a:t>应用层不重新发明模型，而是复用同一套 19 个特征、训练好的模型文件和动态阈值。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828800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近期仓库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1945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创建 30-45 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779776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07792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761488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特征对齐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12724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同一套 19 个特征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712463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840479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694175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模型打分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059935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随机森林输出关注分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645152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77316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XGW WenKa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626864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92F"/>
                </a:solidFill>
                <a:latin typeface="LXGW WenKai"/>
              </a:rPr>
              <a:t>行动分层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4992624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606A"/>
                </a:solidFill>
                <a:latin typeface="LXGW WenKai"/>
              </a:rPr>
              <a:t>按训练集分位数划分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755648"/>
            <a:ext cx="5257800" cy="36118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9933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0" b="1" i="0">
                <a:solidFill>
                  <a:srgbClr val="24292F"/>
                </a:solidFill>
                <a:latin typeface="LXGW WenKai"/>
              </a:rPr>
              <a:t>Top 5 候选榜单（小规模实时扫描）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542032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4292F"/>
                </a:solidFill>
                <a:latin typeface="LXGW WenKai"/>
              </a:rP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2542032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4292F"/>
                </a:solidFill>
                <a:latin typeface="LXGW WenKai"/>
              </a:rPr>
              <a:t>lunashia/o-m_beatmap_trainer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542032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2DA44E"/>
                </a:solidFill>
                <a:latin typeface="LXGW WenKai"/>
              </a:rPr>
              <a:t>0.935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54203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7606A"/>
                </a:solidFill>
                <a:latin typeface="LXGW WenKai"/>
              </a:rPr>
              <a:t>Python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2510028"/>
            <a:ext cx="530352" cy="3291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57860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A44E"/>
                </a:solidFill>
                <a:latin typeface="LXGW WenKai"/>
              </a:rPr>
              <a:t>关注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2935224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4292F"/>
                </a:solidFill>
                <a:latin typeface="LXGW WenKai"/>
              </a:rPr>
              <a:t>#2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2935224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4292F"/>
                </a:solidFill>
                <a:latin typeface="LXGW WenKai"/>
              </a:rPr>
              <a:t>Kavishp7499/qp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935224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0969DA"/>
                </a:solidFill>
                <a:latin typeface="LXGW WenKai"/>
              </a:rPr>
              <a:t>0.718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935224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7606A"/>
                </a:solidFill>
                <a:latin typeface="LXGW WenKai"/>
              </a:rPr>
              <a:t>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2903220"/>
            <a:ext cx="530352" cy="3291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297180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969DA"/>
                </a:solidFill>
                <a:latin typeface="LXGW WenKai"/>
              </a:rPr>
              <a:t>关注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3328415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4292F"/>
                </a:solidFill>
                <a:latin typeface="LXGW WenKa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3328415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4292F"/>
                </a:solidFill>
                <a:latin typeface="LXGW WenKai"/>
              </a:rPr>
              <a:t>NotHarshhaa/mlflow-k8s-operator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3328415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0969DA"/>
                </a:solidFill>
                <a:latin typeface="LXGW WenKai"/>
              </a:rPr>
              <a:t>0.718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328415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7606A"/>
                </a:solidFill>
                <a:latin typeface="LXGW WenKai"/>
              </a:rPr>
              <a:t>Go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3296411"/>
            <a:ext cx="530352" cy="3291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3364991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969DA"/>
                </a:solidFill>
                <a:latin typeface="LXGW WenKai"/>
              </a:rPr>
              <a:t>关注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3721608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4292F"/>
                </a:solidFill>
                <a:latin typeface="LXGW WenKai"/>
              </a:rPr>
              <a:t>#4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3721608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4292F"/>
                </a:solidFill>
                <a:latin typeface="LXGW WenKai"/>
              </a:rPr>
              <a:t>esengine/DeepSeek-Reasonix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3721608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0969DA"/>
                </a:solidFill>
                <a:latin typeface="LXGW WenKai"/>
              </a:rPr>
              <a:t>0.718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3721608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7606A"/>
                </a:solidFill>
                <a:latin typeface="LXGW WenKai"/>
              </a:rPr>
              <a:t>Go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3689604"/>
            <a:ext cx="530352" cy="3291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375818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969DA"/>
                </a:solidFill>
                <a:latin typeface="LXGW WenKai"/>
              </a:rPr>
              <a:t>关注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4114800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4292F"/>
                </a:solidFill>
                <a:latin typeface="LXGW WenKai"/>
              </a:rPr>
              <a:t>#5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4114800"/>
            <a:ext cx="2606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4292F"/>
                </a:solidFill>
                <a:latin typeface="LXGW WenKai"/>
              </a:rPr>
              <a:t>eSlider/bonsai-ollama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4114800"/>
            <a:ext cx="4754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1" i="0">
                <a:solidFill>
                  <a:srgbClr val="0969DA"/>
                </a:solidFill>
                <a:latin typeface="LXGW WenKai"/>
              </a:rPr>
              <a:t>0.718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4114800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7606A"/>
                </a:solidFill>
                <a:latin typeface="LXGW WenKai"/>
              </a:rPr>
              <a:t>Go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4082796"/>
            <a:ext cx="530352" cy="3291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41513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969DA"/>
                </a:solidFill>
                <a:latin typeface="LXGW WenKai"/>
              </a:rPr>
              <a:t>关注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4892040"/>
            <a:ext cx="4526280" cy="329184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016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969764"/>
            <a:ext cx="4206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4292F"/>
                </a:solidFill>
                <a:latin typeface="LXGW WenKai"/>
              </a:rPr>
              <a:t>输出今日观察清单，后续可回看 star 增长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Today Radar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4292F"/>
                </a:solidFill>
                <a:latin typeface="LXGW WenKai"/>
              </a:rPr>
              <a:t>总结：这个系统已经完成了一个闭环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7606A"/>
                </a:solidFill>
                <a:latin typeface="LXGW WenKai"/>
              </a:rPr>
              <a:t>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LXGW WenKai"/>
              </a:rPr>
              <a:t>数据挖掘模型 + OpenClaw 工作流 + 今日候选应用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788920"/>
            <a:ext cx="3246120" cy="73152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05409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4292F"/>
                </a:solidFill>
                <a:latin typeface="LXGW WenKai"/>
              </a:rPr>
              <a:t>模型层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8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F"/>
                </a:solidFill>
                <a:latin typeface="LXGW WenKai"/>
              </a:rPr>
              <a:t>早期信号可以排序潜力仓库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37083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LXGW WenKai"/>
              </a:rPr>
              <a:t>AUC 0.883 · PR-AUC 0.662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2788920"/>
            <a:ext cx="3246120" cy="7315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05409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4292F"/>
                </a:solidFill>
                <a:latin typeface="LXGW WenKai"/>
              </a:rPr>
              <a:t>系统层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584448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F"/>
                </a:solidFill>
                <a:latin typeface="LXGW WenKai"/>
              </a:rPr>
              <a:t>OpenClaw 把复杂任务拆成可复现步骤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437083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LXGW WenKai"/>
              </a:rPr>
              <a:t>技能 · 产物 · 控制台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2788920"/>
            <a:ext cx="3246120" cy="73152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305409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4292F"/>
                </a:solidFill>
                <a:latin typeface="LXGW WenKai"/>
              </a:rPr>
              <a:t>应用层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584448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92F"/>
                </a:solidFill>
                <a:latin typeface="LXGW WenKai"/>
              </a:rPr>
              <a:t>Today Radar 复用同一套特征和阈值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370832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606A"/>
                </a:solidFill>
                <a:latin typeface="LXGW WenKai"/>
              </a:rPr>
              <a:t>19 个特征 · 动态阈值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74243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292F"/>
                </a:solidFill>
                <a:latin typeface="LXGW WenKai"/>
              </a:rPr>
              <a:t>展示主线：先证明模型有效，再说明 OpenClaw 如何让这件事从一次实验变成可运行的系统。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LXGW WenKai"/>
              </a:rP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